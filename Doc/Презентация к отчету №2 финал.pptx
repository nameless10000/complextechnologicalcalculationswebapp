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E6571-BF86-439E-9F74-1D26E222D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D2AEAC-18AA-42FB-8FAD-C6897BD6E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509DA1-C0CC-4074-AAAC-B88986A0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8C86-4653-4C44-B42D-4901CA3A3073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6A42DD-68F2-45AC-8C7B-94F3650C3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F35DCB-1B38-44D9-B7B8-FA0629439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6EEFB-FC98-4EEC-BF6F-EFE5FBD5F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742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32822-D319-48B3-A700-E86696BA9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8BDFAC-F015-43D1-A089-CA2F0C26A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7043A5-F782-4F50-9BEE-1F04D5BA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8C86-4653-4C44-B42D-4901CA3A3073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39B742-C1CA-4635-85DE-EE96307A9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C3B504-6171-4D06-B781-D68B0FA91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6EEFB-FC98-4EEC-BF6F-EFE5FBD5F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773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B7D4DE-B180-4133-BD3A-1CBA324B0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F21378-71DC-4E2A-89ED-A8E53E361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1E6C74-A208-40D6-8B5F-5EAF6619E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8C86-4653-4C44-B42D-4901CA3A3073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2B0394-577B-4415-A359-46DCDFED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F6CB48-035C-4315-BDB7-6522339F7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6EEFB-FC98-4EEC-BF6F-EFE5FBD5F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52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CE8E1-86EF-460D-85BA-8DB267156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F89AC4-E141-4720-9614-8B8DCF934B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850C19-ED90-4346-963A-F8708E867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14F3FA-A1DF-4638-B86B-C4687F02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8C86-4653-4C44-B42D-4901CA3A3073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0B6F3E6-87F4-4B09-92F3-E4CDE614F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DE7499-CB75-4914-A0BF-6D77C1FD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6EEFB-FC98-4EEC-BF6F-EFE5FBD5F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05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236028-D7E4-4CFF-B76C-A1E6A839B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4E3291-6387-4E11-9B3B-EF8F30A8B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8A78EF-BAE2-4F55-A613-F9882EE34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9FB6E67-D5C1-4145-BFB8-D3E4FDC42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F170179-FDC1-4700-826D-504F9FB0D0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A0BC14F-AFED-42DF-8F2F-214DE6970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8C86-4653-4C44-B42D-4901CA3A3073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C584E89-C1CC-4981-A0BC-2A6B74352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B97E008-57D5-42D9-9555-AE4423A91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6EEFB-FC98-4EEC-BF6F-EFE5FBD5F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318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D4530A-9CB9-4141-8248-8D26B77BE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817EEB2-CBB8-4BED-AEFF-792A6E853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8C86-4653-4C44-B42D-4901CA3A3073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ADAECE-9039-4101-AFAB-7512C0365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2EC6419-7FE3-4EEA-9A5A-6718C855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6EEFB-FC98-4EEC-BF6F-EFE5FBD5F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8914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63DCEC8-C4EF-4A6E-9A20-66C857E9E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8C86-4653-4C44-B42D-4901CA3A3073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269C88-5289-439D-B7FA-B24104667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0B0950-9F13-4DDE-840B-7CF13BE4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6EEFB-FC98-4EEC-BF6F-EFE5FBD5F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03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B88246-666B-47DA-A7B9-6113871E7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644782-AB66-4586-AB50-D0B688F58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AEC5F5-3446-4E31-ACE0-D6565AD6D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422F10-FD6A-4E9D-AA31-E4B38C1B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8C86-4653-4C44-B42D-4901CA3A3073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B7BF39-4C5A-4D9A-A1BE-2D56B05CA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EDBDB0-E423-4EDF-88FE-A4A5041B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6EEFB-FC98-4EEC-BF6F-EFE5FBD5F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942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AF13B-049C-4EFC-8609-ED3CC448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65F6E33-735E-42EE-88A3-5BEED6BAC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F1739C-B9D1-40AA-B479-BC6D7C4E0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B9BA07-7F31-48A5-AB5A-5A1186A43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8C86-4653-4C44-B42D-4901CA3A3073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164918-A541-4932-A962-E8DAEF362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562C3A-2DD4-4F6E-A6B9-786D6FCC0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6EEFB-FC98-4EEC-BF6F-EFE5FBD5F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90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61F08D-B483-4ED9-852F-8DB986688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31FFA76-ED75-43C7-96BD-BCBC94831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39C420-2BD0-47A0-A334-57163F7B5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8C86-4653-4C44-B42D-4901CA3A3073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0BED47-3565-444F-9F2F-6E60AD1B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83BE4C-8C70-4C3F-9CB7-E2F469AB0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6EEFB-FC98-4EEC-BF6F-EFE5FBD5F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115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840BB9-FA0E-43A5-9B2C-5D59F36B07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F18512-85FE-4E6A-97A1-70FF54779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298D33-41F4-4E69-95B6-E6468903F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8C86-4653-4C44-B42D-4901CA3A3073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5FF6EE-E965-401C-98A1-07258E87E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16E329-68EB-48C8-B174-91FB9B0F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6EEFB-FC98-4EEC-BF6F-EFE5FBD5F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301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A314C-4A1E-4249-ABFC-A5A0C6C70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933621-46E4-4547-8039-B5BC293AB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187307-0CFF-4FCE-81FC-22684ACFBA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78C86-4653-4C44-B42D-4901CA3A3073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36EDFB-A8F9-4E88-B9DA-14C4029B6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ACDBF6-B200-46DF-936F-A4BD382DB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6EEFB-FC98-4EEC-BF6F-EFE5FBD5F3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037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1419"/>
          </a:xfrm>
          <a:prstGeom prst="rect">
            <a:avLst/>
          </a:prstGeom>
        </p:spPr>
      </p:pic>
      <p:graphicFrame>
        <p:nvGraphicFramePr>
          <p:cNvPr id="16" name="Объект 15"/>
          <p:cNvGraphicFramePr>
            <a:graphicFrameLocks noChangeAspect="1"/>
          </p:cNvGraphicFramePr>
          <p:nvPr/>
        </p:nvGraphicFramePr>
        <p:xfrm>
          <a:off x="10098743" y="434187"/>
          <a:ext cx="1150385" cy="505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3084412" imgH="1354813" progId="CorelDraw.Graphic.22">
                  <p:embed/>
                </p:oleObj>
              </mc:Choice>
              <mc:Fallback>
                <p:oleObj name="CorelDRAW" r:id="rId3" imgW="3084412" imgH="1354813" progId="CorelDraw.Graphic.22">
                  <p:embed/>
                  <p:pic>
                    <p:nvPicPr>
                      <p:cNvPr id="16" name="Объект 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98743" y="434187"/>
                        <a:ext cx="1150385" cy="5050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Рисунок 1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2" t="15223" r="7163" b="15909"/>
          <a:stretch/>
        </p:blipFill>
        <p:spPr>
          <a:xfrm>
            <a:off x="3440414" y="388117"/>
            <a:ext cx="2156721" cy="1158000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3136391" y="1927653"/>
            <a:ext cx="8988193" cy="181224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2800" b="1" dirty="0">
                <a:solidFill>
                  <a:srgbClr val="681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Проектный практикум №2</a:t>
            </a:r>
          </a:p>
          <a:p>
            <a:pPr algn="ctr">
              <a:lnSpc>
                <a:spcPct val="100000"/>
              </a:lnSpc>
            </a:pPr>
            <a:r>
              <a:rPr lang="en-US" altLang="ru-RU" sz="2800" b="1" dirty="0">
                <a:solidFill>
                  <a:srgbClr val="681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altLang="ru-RU" sz="2800" b="1" dirty="0">
                <a:solidFill>
                  <a:srgbClr val="681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программного обеспечения комплексных технологических расчётов доменной печи и агломерационного цеха</a:t>
            </a:r>
            <a:r>
              <a:rPr lang="en-US" altLang="ru-RU" sz="2800" b="1" dirty="0">
                <a:solidFill>
                  <a:srgbClr val="681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ru-RU" altLang="ru-RU" sz="2800" b="1" dirty="0">
              <a:solidFill>
                <a:srgbClr val="681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530C06-A6C2-232D-0F28-70F1684D673B}"/>
              </a:ext>
            </a:extLst>
          </p:cNvPr>
          <p:cNvSpPr/>
          <p:nvPr/>
        </p:nvSpPr>
        <p:spPr>
          <a:xfrm>
            <a:off x="3440414" y="3739896"/>
            <a:ext cx="8373634" cy="2862322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Лавров В.В.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Магистранты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Е.В. Антонов</a:t>
            </a:r>
          </a:p>
          <a:p>
            <a:pPr algn="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Ю.А.Коротков</a:t>
            </a:r>
          </a:p>
          <a:p>
            <a:pPr algn="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П.А. Артемьев</a:t>
            </a:r>
          </a:p>
          <a:p>
            <a:pPr algn="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В.Д.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Выползов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Н.Е. Якимов</a:t>
            </a:r>
          </a:p>
          <a:p>
            <a:pPr algn="r"/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Студенты группы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НМТ-153901</a:t>
            </a:r>
          </a:p>
          <a:p>
            <a:pPr algn="r"/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311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4B56E7-FF91-4DB9-95E1-7B1CF10378B7}"/>
              </a:ext>
            </a:extLst>
          </p:cNvPr>
          <p:cNvSpPr txBox="1"/>
          <p:nvPr/>
        </p:nvSpPr>
        <p:spPr>
          <a:xfrm>
            <a:off x="812800" y="889000"/>
            <a:ext cx="9906000" cy="126188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ru-RU" sz="3800" b="1" dirty="0">
                <a:solidFill>
                  <a:srgbClr val="FFFFFF"/>
                </a:solidFill>
                <a:latin typeface="Arial" panose="020B0604020202020204" pitchFamily="34" charset="0"/>
              </a:rPr>
              <a:t>Модернизация приложения технологических расчетов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90EEB-4E9D-465C-B823-7C38B44F80CF}"/>
              </a:ext>
            </a:extLst>
          </p:cNvPr>
          <p:cNvSpPr txBox="1"/>
          <p:nvPr/>
        </p:nvSpPr>
        <p:spPr>
          <a:xfrm>
            <a:off x="812800" y="863352"/>
            <a:ext cx="9144000" cy="139525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ru-RU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Переход от монолита к </a:t>
            </a:r>
            <a:r>
              <a:rPr lang="ru-RU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микросервисной</a:t>
            </a:r>
            <a:r>
              <a:rPr lang="ru-RU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архитектуре с </a:t>
            </a:r>
            <a:r>
              <a:rPr lang="ru-RU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gRPC</a:t>
            </a:r>
            <a:r>
              <a:rPr lang="ru-RU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ru-RU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Kafka</a:t>
            </a:r>
            <a:r>
              <a:rPr lang="ru-RU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ru-RU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Docker</a:t>
            </a:r>
            <a:r>
              <a:rPr lang="ru-RU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ru-RU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Compose</a:t>
            </a:r>
            <a:r>
              <a:rPr lang="ru-RU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и </a:t>
            </a:r>
            <a:r>
              <a:rPr lang="ru-RU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reverse-proxy</a:t>
            </a:r>
            <a:endParaRPr lang="ru-RU" sz="28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CCFF8FF-41B9-47A8-8D48-BD088AC065D9}"/>
              </a:ext>
            </a:extLst>
          </p:cNvPr>
          <p:cNvSpPr/>
          <p:nvPr/>
        </p:nvSpPr>
        <p:spPr>
          <a:xfrm>
            <a:off x="2264664" y="3048000"/>
            <a:ext cx="1905000" cy="381000"/>
          </a:xfrm>
          <a:prstGeom prst="roundRect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200" b="1">
                <a:solidFill>
                  <a:srgbClr val="2563EB"/>
                </a:solidFill>
                <a:latin typeface="Arial" panose="020B0604020202020204" pitchFamily="34" charset="0"/>
              </a:rPr>
              <a:t>REST API</a:t>
            </a:r>
            <a:endParaRPr lang="ru-RU" sz="1200" b="1">
              <a:solidFill>
                <a:srgbClr val="2563EB"/>
              </a:solidFill>
              <a:latin typeface="Arial" panose="020B0604020202020204" pitchFamily="34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B2FBE6F-C8F7-4BB3-A0FD-1152F725E1BC}"/>
              </a:ext>
            </a:extLst>
          </p:cNvPr>
          <p:cNvSpPr/>
          <p:nvPr/>
        </p:nvSpPr>
        <p:spPr>
          <a:xfrm>
            <a:off x="4347464" y="3048000"/>
            <a:ext cx="1397000" cy="381000"/>
          </a:xfrm>
          <a:prstGeom prst="roundRect">
            <a:avLst/>
          </a:prstGeom>
          <a:solidFill>
            <a:srgbClr val="CFFA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200" b="1" dirty="0" err="1">
                <a:solidFill>
                  <a:srgbClr val="0891B2"/>
                </a:solidFill>
                <a:latin typeface="Arial" panose="020B0604020202020204" pitchFamily="34" charset="0"/>
              </a:rPr>
              <a:t>gRPC</a:t>
            </a:r>
            <a:endParaRPr lang="ru-RU" sz="1200" b="1" dirty="0">
              <a:solidFill>
                <a:srgbClr val="0891B2"/>
              </a:solidFill>
              <a:latin typeface="Arial" panose="020B0604020202020204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BDC910E-FADA-4114-A406-45FB9042A0C2}"/>
              </a:ext>
            </a:extLst>
          </p:cNvPr>
          <p:cNvSpPr/>
          <p:nvPr/>
        </p:nvSpPr>
        <p:spPr>
          <a:xfrm>
            <a:off x="5922264" y="3048000"/>
            <a:ext cx="1397000" cy="381000"/>
          </a:xfrm>
          <a:prstGeom prst="roundRect">
            <a:avLst/>
          </a:prstGeom>
          <a:solidFill>
            <a:srgbClr val="FEF3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200" b="1" dirty="0">
                <a:solidFill>
                  <a:srgbClr val="D97706"/>
                </a:solidFill>
                <a:latin typeface="Arial" panose="020B0604020202020204" pitchFamily="34" charset="0"/>
              </a:rPr>
              <a:t>Kafka</a:t>
            </a:r>
            <a:endParaRPr lang="ru-RU" sz="1200" b="1" dirty="0">
              <a:solidFill>
                <a:srgbClr val="D97706"/>
              </a:solidFill>
              <a:latin typeface="Arial" panose="020B0604020202020204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CAE4101-75AA-4D8F-9EC6-D5E8625691A8}"/>
              </a:ext>
            </a:extLst>
          </p:cNvPr>
          <p:cNvSpPr/>
          <p:nvPr/>
        </p:nvSpPr>
        <p:spPr>
          <a:xfrm>
            <a:off x="7497064" y="3048000"/>
            <a:ext cx="2159000" cy="381000"/>
          </a:xfrm>
          <a:prstGeom prst="roundRect">
            <a:avLst/>
          </a:prstGeom>
          <a:solidFill>
            <a:srgbClr val="DCF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200" b="1" dirty="0">
                <a:solidFill>
                  <a:srgbClr val="16A34A"/>
                </a:solidFill>
                <a:latin typeface="Arial" panose="020B0604020202020204" pitchFamily="34" charset="0"/>
              </a:rPr>
              <a:t>Docker Compose</a:t>
            </a:r>
            <a:endParaRPr lang="ru-RU" sz="1200" b="1" dirty="0">
              <a:solidFill>
                <a:srgbClr val="16A34A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FCB617-4CE9-46DE-A534-D5B7B7F41D51}"/>
              </a:ext>
            </a:extLst>
          </p:cNvPr>
          <p:cNvSpPr txBox="1"/>
          <p:nvPr/>
        </p:nvSpPr>
        <p:spPr>
          <a:xfrm>
            <a:off x="609600" y="6375400"/>
            <a:ext cx="6350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rial" panose="020B0604020202020204" pitchFamily="34" charset="0"/>
              </a:rPr>
              <a:t>Complex Technological Calculations Web App</a:t>
            </a:r>
            <a:endParaRPr lang="ru-RU" sz="800">
              <a:solidFill>
                <a:srgbClr val="64748B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FA1107-AAAF-45D2-AD18-AC693B39F061}"/>
              </a:ext>
            </a:extLst>
          </p:cNvPr>
          <p:cNvSpPr txBox="1"/>
          <p:nvPr/>
        </p:nvSpPr>
        <p:spPr>
          <a:xfrm>
            <a:off x="11074400" y="6375400"/>
            <a:ext cx="508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ru-RU" sz="800" dirty="0">
                <a:solidFill>
                  <a:srgbClr val="64748B"/>
                </a:solidFill>
                <a:latin typeface="Arial" panose="020B0604020202020204" pitchFamily="34" charset="0"/>
              </a:rPr>
              <a:t>1</a:t>
            </a:r>
          </a:p>
        </p:txBody>
      </p:sp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A261E6E8-BE48-0C95-A3EC-3FDAEDBE59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30614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0" name="Объект 9">
                        <a:extLst>
                          <a:ext uri="{FF2B5EF4-FFF2-40B4-BE49-F238E27FC236}">
                            <a16:creationId xmlns:a16="http://schemas.microsoft.com/office/drawing/2014/main" id="{945BBBD9-BFDA-A47E-06ED-68F42A5D22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30614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BA632D0-C550-E5FD-6370-87ACAD26FC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30614"/>
            <a:ext cx="1026865" cy="41708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1593DD8-B4EF-F80D-6823-36270BAABBA2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701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006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28CAFB-33E4-4DF3-BFA2-7B9AE83C54EC}"/>
              </a:ext>
            </a:extLst>
          </p:cNvPr>
          <p:cNvSpPr txBox="1"/>
          <p:nvPr/>
        </p:nvSpPr>
        <p:spPr>
          <a:xfrm>
            <a:off x="609600" y="685800"/>
            <a:ext cx="8890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ru-RU" sz="2800" b="1" dirty="0">
                <a:solidFill>
                  <a:srgbClr val="13243A"/>
                </a:solidFill>
                <a:latin typeface="Arial" panose="020B0604020202020204" pitchFamily="34" charset="0"/>
              </a:rPr>
              <a:t>Почему монолит стало сложно развивать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594659A-BCC6-4FCE-988C-E05DBEB8D1E1}"/>
              </a:ext>
            </a:extLst>
          </p:cNvPr>
          <p:cNvSpPr/>
          <p:nvPr/>
        </p:nvSpPr>
        <p:spPr>
          <a:xfrm>
            <a:off x="889000" y="1968500"/>
            <a:ext cx="2667000" cy="15240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1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600" b="1">
                <a:solidFill>
                  <a:srgbClr val="1F2937"/>
                </a:solidFill>
                <a:latin typeface="Arial" panose="020B0604020202020204" pitchFamily="34" charset="0"/>
              </a:rPr>
              <a:t>Единый сервер
расчеты + API + БД</a:t>
            </a:r>
          </a:p>
        </p:txBody>
      </p:sp>
      <p:sp>
        <p:nvSpPr>
          <p:cNvPr id="6" name="Стрелка: вправо 5">
            <a:extLst>
              <a:ext uri="{FF2B5EF4-FFF2-40B4-BE49-F238E27FC236}">
                <a16:creationId xmlns:a16="http://schemas.microsoft.com/office/drawing/2014/main" id="{00F85F77-C163-41E1-8371-895A860B2757}"/>
              </a:ext>
            </a:extLst>
          </p:cNvPr>
          <p:cNvSpPr/>
          <p:nvPr/>
        </p:nvSpPr>
        <p:spPr>
          <a:xfrm>
            <a:off x="3898900" y="2387600"/>
            <a:ext cx="1066800" cy="685800"/>
          </a:xfrm>
          <a:prstGeom prst="rightArrow">
            <a:avLst/>
          </a:prstGeom>
          <a:solidFill>
            <a:srgbClr val="6474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993730F-6F4B-4B91-99C0-BC4B77C36B49}"/>
              </a:ext>
            </a:extLst>
          </p:cNvPr>
          <p:cNvSpPr/>
          <p:nvPr/>
        </p:nvSpPr>
        <p:spPr>
          <a:xfrm>
            <a:off x="5334000" y="1714500"/>
            <a:ext cx="2667000" cy="20320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BF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600" b="1">
                <a:solidFill>
                  <a:srgbClr val="1F2937"/>
                </a:solidFill>
                <a:latin typeface="Arial" panose="020B0604020202020204" pitchFamily="34" charset="0"/>
              </a:rPr>
              <a:t>Рост числа модулей
и зависимостей</a:t>
            </a:r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40156654-A712-4311-B044-063942E3D22A}"/>
              </a:ext>
            </a:extLst>
          </p:cNvPr>
          <p:cNvSpPr/>
          <p:nvPr/>
        </p:nvSpPr>
        <p:spPr>
          <a:xfrm>
            <a:off x="8343900" y="2387600"/>
            <a:ext cx="1066800" cy="685800"/>
          </a:xfrm>
          <a:prstGeom prst="rightArrow">
            <a:avLst/>
          </a:prstGeom>
          <a:solidFill>
            <a:srgbClr val="6474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847687A-8975-42B5-AF80-92557D0BF9E2}"/>
              </a:ext>
            </a:extLst>
          </p:cNvPr>
          <p:cNvSpPr/>
          <p:nvPr/>
        </p:nvSpPr>
        <p:spPr>
          <a:xfrm>
            <a:off x="9779000" y="1968500"/>
            <a:ext cx="1651000" cy="15240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600" b="1">
                <a:solidFill>
                  <a:srgbClr val="1F2937"/>
                </a:solidFill>
                <a:latin typeface="Arial" panose="020B0604020202020204" pitchFamily="34" charset="0"/>
              </a:rPr>
              <a:t>Нужна
изоляция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572D9F-8A8B-44C7-9D8B-58A24A77D228}"/>
              </a:ext>
            </a:extLst>
          </p:cNvPr>
          <p:cNvSpPr txBox="1"/>
          <p:nvPr/>
        </p:nvSpPr>
        <p:spPr>
          <a:xfrm>
            <a:off x="1092200" y="4254500"/>
            <a:ext cx="3175000" cy="93358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ru-RU" b="1">
                <a:solidFill>
                  <a:srgbClr val="1F2937"/>
                </a:solidFill>
                <a:latin typeface="Arial" panose="020B0604020202020204" pitchFamily="34" charset="0"/>
              </a:rPr>
              <a:t>Сложнее отлаживать отдельные расчетные режимы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85EAB6-16B6-4004-82EC-68C8900B12C6}"/>
              </a:ext>
            </a:extLst>
          </p:cNvPr>
          <p:cNvSpPr txBox="1"/>
          <p:nvPr/>
        </p:nvSpPr>
        <p:spPr>
          <a:xfrm>
            <a:off x="4572000" y="4254500"/>
            <a:ext cx="3175000" cy="6604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ru-RU" b="1">
                <a:solidFill>
                  <a:srgbClr val="1F2937"/>
                </a:solidFill>
                <a:latin typeface="Arial" panose="020B0604020202020204" pitchFamily="34" charset="0"/>
              </a:rPr>
              <a:t>Синхронная запись истории влияет на запрос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57AB7E-EE9E-4F76-BABA-F5617B900F41}"/>
              </a:ext>
            </a:extLst>
          </p:cNvPr>
          <p:cNvSpPr txBox="1"/>
          <p:nvPr/>
        </p:nvSpPr>
        <p:spPr>
          <a:xfrm>
            <a:off x="8051800" y="4254500"/>
            <a:ext cx="3175000" cy="6604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ru-RU" b="1">
                <a:solidFill>
                  <a:srgbClr val="1F2937"/>
                </a:solidFill>
                <a:latin typeface="Arial" panose="020B0604020202020204" pitchFamily="34" charset="0"/>
              </a:rPr>
              <a:t>Труднее масштабировать и демонстрировать стенд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FA9ABC-C3E0-45AE-A289-8B2B2A51F405}"/>
              </a:ext>
            </a:extLst>
          </p:cNvPr>
          <p:cNvSpPr txBox="1"/>
          <p:nvPr/>
        </p:nvSpPr>
        <p:spPr>
          <a:xfrm>
            <a:off x="609600" y="6375400"/>
            <a:ext cx="6350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rial" panose="020B0604020202020204" pitchFamily="34" charset="0"/>
              </a:rPr>
              <a:t>Complex Technological Calculations Web App</a:t>
            </a:r>
            <a:endParaRPr lang="ru-RU" sz="800">
              <a:solidFill>
                <a:srgbClr val="64748B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BE2707-2347-42BF-AF0C-438FA6277958}"/>
              </a:ext>
            </a:extLst>
          </p:cNvPr>
          <p:cNvSpPr txBox="1"/>
          <p:nvPr/>
        </p:nvSpPr>
        <p:spPr>
          <a:xfrm>
            <a:off x="11074400" y="6375400"/>
            <a:ext cx="508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ru-RU" sz="800">
                <a:solidFill>
                  <a:srgbClr val="64748B"/>
                </a:solidFill>
                <a:latin typeface="Arial" panose="020B0604020202020204" pitchFamily="34" charset="0"/>
              </a:rPr>
              <a:t>2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A9B9C0E-CBA3-ED2F-0836-A0BCFE7087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30614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0" name="Объект 9">
                        <a:extLst>
                          <a:ext uri="{FF2B5EF4-FFF2-40B4-BE49-F238E27FC236}">
                            <a16:creationId xmlns:a16="http://schemas.microsoft.com/office/drawing/2014/main" id="{945BBBD9-BFDA-A47E-06ED-68F42A5D22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30614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F9B5DE4-E409-75FA-9513-DD4EBC6BE1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30614"/>
            <a:ext cx="1026865" cy="41708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08F0FAE-7901-6715-575F-505DD7D1A53E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701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676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189671-833E-4570-827C-E76C5570B2A4}"/>
              </a:ext>
            </a:extLst>
          </p:cNvPr>
          <p:cNvSpPr txBox="1"/>
          <p:nvPr/>
        </p:nvSpPr>
        <p:spPr>
          <a:xfrm>
            <a:off x="609600" y="685800"/>
            <a:ext cx="8890000" cy="96436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ru-RU" sz="2800" b="1">
                <a:solidFill>
                  <a:srgbClr val="13243A"/>
                </a:solidFill>
                <a:latin typeface="Arial" panose="020B0604020202020204" pitchFamily="34" charset="0"/>
              </a:rPr>
              <a:t>Один пользовательский вход, несколько внутренних сервисов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EB051C5-74F9-4A10-97F4-B384B0F5976A}"/>
              </a:ext>
            </a:extLst>
          </p:cNvPr>
          <p:cNvSpPr/>
          <p:nvPr/>
        </p:nvSpPr>
        <p:spPr>
          <a:xfrm>
            <a:off x="736600" y="2159000"/>
            <a:ext cx="1905000" cy="7874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2DD4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1F2937"/>
                </a:solidFill>
                <a:latin typeface="Arial" panose="020B0604020202020204" pitchFamily="34" charset="0"/>
              </a:rPr>
              <a:t>Frontend
nginx</a:t>
            </a:r>
            <a:endParaRPr lang="ru-RU" sz="15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EC45570-7165-4F64-BFE9-EB8795611EE2}"/>
              </a:ext>
            </a:extLst>
          </p:cNvPr>
          <p:cNvCxnSpPr/>
          <p:nvPr/>
        </p:nvCxnSpPr>
        <p:spPr>
          <a:xfrm>
            <a:off x="2641600" y="2552700"/>
            <a:ext cx="914400" cy="0"/>
          </a:xfrm>
          <a:prstGeom prst="line">
            <a:avLst/>
          </a:prstGeom>
          <a:ln w="25400">
            <a:solidFill>
              <a:srgbClr val="0891B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DE12137-7815-40F9-864B-8F9887BF23EB}"/>
              </a:ext>
            </a:extLst>
          </p:cNvPr>
          <p:cNvSpPr/>
          <p:nvPr/>
        </p:nvSpPr>
        <p:spPr>
          <a:xfrm>
            <a:off x="3556000" y="2032000"/>
            <a:ext cx="1905000" cy="10414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1F2937"/>
                </a:solidFill>
                <a:latin typeface="Arial" panose="020B0604020202020204" pitchFamily="34" charset="0"/>
              </a:rPr>
              <a:t>Web
REST </a:t>
            </a:r>
            <a:r>
              <a:rPr lang="ru-RU" sz="1500" b="1">
                <a:solidFill>
                  <a:srgbClr val="1F2937"/>
                </a:solidFill>
                <a:latin typeface="Arial" panose="020B0604020202020204" pitchFamily="34" charset="0"/>
              </a:rPr>
              <a:t>фасад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6AE5D57-D8D7-46D7-98EA-AE3B4E6959D7}"/>
              </a:ext>
            </a:extLst>
          </p:cNvPr>
          <p:cNvCxnSpPr/>
          <p:nvPr/>
        </p:nvCxnSpPr>
        <p:spPr>
          <a:xfrm flipV="1">
            <a:off x="5461000" y="1905000"/>
            <a:ext cx="1143000" cy="50800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5D46EDCB-F535-4A17-B529-BEA7B11B191B}"/>
              </a:ext>
            </a:extLst>
          </p:cNvPr>
          <p:cNvCxnSpPr/>
          <p:nvPr/>
        </p:nvCxnSpPr>
        <p:spPr>
          <a:xfrm>
            <a:off x="5461000" y="2552700"/>
            <a:ext cx="1143000" cy="46990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A21DCF19-E0FA-4EFE-ADD6-EDB93507C3C2}"/>
              </a:ext>
            </a:extLst>
          </p:cNvPr>
          <p:cNvCxnSpPr/>
          <p:nvPr/>
        </p:nvCxnSpPr>
        <p:spPr>
          <a:xfrm>
            <a:off x="5461000" y="2705100"/>
            <a:ext cx="1143000" cy="142240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7138920-FA6F-4F17-BD63-ECEA6BFD963F}"/>
              </a:ext>
            </a:extLst>
          </p:cNvPr>
          <p:cNvSpPr/>
          <p:nvPr/>
        </p:nvSpPr>
        <p:spPr>
          <a:xfrm>
            <a:off x="6604000" y="1473200"/>
            <a:ext cx="2032000" cy="711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1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400" b="1">
                <a:solidFill>
                  <a:srgbClr val="1F2937"/>
                </a:solidFill>
                <a:latin typeface="Arial" panose="020B0604020202020204" pitchFamily="34" charset="0"/>
              </a:rPr>
              <a:t>AglomService</a:t>
            </a:r>
            <a:endParaRPr lang="ru-RU" sz="14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189FE37E-660D-4158-9199-984D7FFA4713}"/>
              </a:ext>
            </a:extLst>
          </p:cNvPr>
          <p:cNvSpPr/>
          <p:nvPr/>
        </p:nvSpPr>
        <p:spPr>
          <a:xfrm>
            <a:off x="6604000" y="2717800"/>
            <a:ext cx="2032000" cy="711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1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400" b="1">
                <a:solidFill>
                  <a:srgbClr val="1F2937"/>
                </a:solidFill>
                <a:latin typeface="Arial" panose="020B0604020202020204" pitchFamily="34" charset="0"/>
              </a:rPr>
              <a:t>GasDynamicService</a:t>
            </a:r>
            <a:endParaRPr lang="ru-RU" sz="14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44C74C1-01C2-496C-8E3A-983F672E31D9}"/>
              </a:ext>
            </a:extLst>
          </p:cNvPr>
          <p:cNvSpPr/>
          <p:nvPr/>
        </p:nvSpPr>
        <p:spPr>
          <a:xfrm>
            <a:off x="6604000" y="3962400"/>
            <a:ext cx="2032000" cy="711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1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400" b="1">
                <a:solidFill>
                  <a:srgbClr val="1F2937"/>
                </a:solidFill>
                <a:latin typeface="Arial" panose="020B0604020202020204" pitchFamily="34" charset="0"/>
              </a:rPr>
              <a:t>SlagModeService</a:t>
            </a:r>
            <a:endParaRPr lang="ru-RU" sz="14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4EA5AC8-F091-4275-8EF3-498732AD7DA6}"/>
              </a:ext>
            </a:extLst>
          </p:cNvPr>
          <p:cNvCxnSpPr/>
          <p:nvPr/>
        </p:nvCxnSpPr>
        <p:spPr>
          <a:xfrm>
            <a:off x="5461000" y="2997200"/>
            <a:ext cx="1143000" cy="2463800"/>
          </a:xfrm>
          <a:prstGeom prst="line">
            <a:avLst/>
          </a:prstGeom>
          <a:ln w="25400">
            <a:solidFill>
              <a:srgbClr val="D9770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BA1FFBB-B2B9-4A97-9BDA-23C5DD29B728}"/>
              </a:ext>
            </a:extLst>
          </p:cNvPr>
          <p:cNvSpPr/>
          <p:nvPr/>
        </p:nvSpPr>
        <p:spPr>
          <a:xfrm>
            <a:off x="6604000" y="5080000"/>
            <a:ext cx="1651000" cy="71120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BBF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400" b="1">
                <a:solidFill>
                  <a:srgbClr val="1F2937"/>
                </a:solidFill>
                <a:latin typeface="Arial" panose="020B0604020202020204" pitchFamily="34" charset="0"/>
              </a:rPr>
              <a:t>Kafka
topic</a:t>
            </a:r>
            <a:endParaRPr lang="ru-RU" sz="14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9459E793-2042-4906-A7C1-529A242CDDD2}"/>
              </a:ext>
            </a:extLst>
          </p:cNvPr>
          <p:cNvCxnSpPr/>
          <p:nvPr/>
        </p:nvCxnSpPr>
        <p:spPr>
          <a:xfrm>
            <a:off x="8255000" y="5435600"/>
            <a:ext cx="889000" cy="0"/>
          </a:xfrm>
          <a:prstGeom prst="line">
            <a:avLst/>
          </a:prstGeom>
          <a:ln w="25400">
            <a:solidFill>
              <a:srgbClr val="D9770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98EC28F9-2202-45B4-B185-C970BBFD8885}"/>
              </a:ext>
            </a:extLst>
          </p:cNvPr>
          <p:cNvSpPr/>
          <p:nvPr/>
        </p:nvSpPr>
        <p:spPr>
          <a:xfrm>
            <a:off x="9144000" y="5080000"/>
            <a:ext cx="1905000" cy="7112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400" b="1">
                <a:solidFill>
                  <a:srgbClr val="1F2937"/>
                </a:solidFill>
                <a:latin typeface="Arial" panose="020B0604020202020204" pitchFamily="34" charset="0"/>
              </a:rPr>
              <a:t>HistoryWriter</a:t>
            </a:r>
            <a:endParaRPr lang="ru-RU" sz="14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049CDA2B-5388-4F17-9C8B-86C9406CA763}"/>
              </a:ext>
            </a:extLst>
          </p:cNvPr>
          <p:cNvCxnSpPr/>
          <p:nvPr/>
        </p:nvCxnSpPr>
        <p:spPr>
          <a:xfrm flipV="1">
            <a:off x="10096500" y="4445000"/>
            <a:ext cx="0" cy="635000"/>
          </a:xfrm>
          <a:prstGeom prst="line">
            <a:avLst/>
          </a:prstGeom>
          <a:ln w="25400">
            <a:solidFill>
              <a:srgbClr val="16A34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70787253-736C-4078-A662-C5CA6308D654}"/>
              </a:ext>
            </a:extLst>
          </p:cNvPr>
          <p:cNvSpPr/>
          <p:nvPr/>
        </p:nvSpPr>
        <p:spPr>
          <a:xfrm>
            <a:off x="9144000" y="3619500"/>
            <a:ext cx="1905000" cy="711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1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400" b="1">
                <a:solidFill>
                  <a:srgbClr val="1F2937"/>
                </a:solidFill>
                <a:latin typeface="Arial" panose="020B0604020202020204" pitchFamily="34" charset="0"/>
              </a:rPr>
              <a:t>PostgreSQL
</a:t>
            </a:r>
            <a:r>
              <a:rPr lang="ru-RU" sz="1400" b="1">
                <a:solidFill>
                  <a:srgbClr val="1F2937"/>
                </a:solidFill>
                <a:latin typeface="Arial" panose="020B0604020202020204" pitchFamily="34" charset="0"/>
              </a:rPr>
              <a:t>несколько БД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8C945F-25BA-4012-BA20-AFE76DAE0FC4}"/>
              </a:ext>
            </a:extLst>
          </p:cNvPr>
          <p:cNvSpPr txBox="1"/>
          <p:nvPr/>
        </p:nvSpPr>
        <p:spPr>
          <a:xfrm>
            <a:off x="736600" y="5829300"/>
            <a:ext cx="9652000" cy="62581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ru-RU" sz="1700" b="1" dirty="0">
                <a:solidFill>
                  <a:srgbClr val="1F2937"/>
                </a:solidFill>
                <a:latin typeface="Arial" panose="020B0604020202020204" pitchFamily="34" charset="0"/>
              </a:rPr>
              <a:t>Пользователь видит единое приложение, а внутренняя связность перенесена в </a:t>
            </a:r>
            <a:r>
              <a:rPr lang="ru-RU" sz="1700" b="1" dirty="0" err="1">
                <a:solidFill>
                  <a:srgbClr val="1F2937"/>
                </a:solidFill>
                <a:latin typeface="Arial" panose="020B0604020202020204" pitchFamily="34" charset="0"/>
              </a:rPr>
              <a:t>gRPC</a:t>
            </a:r>
            <a:r>
              <a:rPr lang="ru-RU" sz="1700" b="1" dirty="0">
                <a:solidFill>
                  <a:srgbClr val="1F2937"/>
                </a:solidFill>
                <a:latin typeface="Arial" panose="020B0604020202020204" pitchFamily="34" charset="0"/>
              </a:rPr>
              <a:t> и </a:t>
            </a:r>
            <a:r>
              <a:rPr lang="ru-RU" sz="1700" b="1" dirty="0" err="1">
                <a:solidFill>
                  <a:srgbClr val="1F2937"/>
                </a:solidFill>
                <a:latin typeface="Arial" panose="020B0604020202020204" pitchFamily="34" charset="0"/>
              </a:rPr>
              <a:t>Kafka</a:t>
            </a:r>
            <a:r>
              <a:rPr lang="ru-RU" sz="1700" b="1" dirty="0">
                <a:solidFill>
                  <a:srgbClr val="1F2937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D2B824-5B93-4F07-9D52-60A446BD277C}"/>
              </a:ext>
            </a:extLst>
          </p:cNvPr>
          <p:cNvSpPr txBox="1"/>
          <p:nvPr/>
        </p:nvSpPr>
        <p:spPr>
          <a:xfrm>
            <a:off x="609600" y="6375400"/>
            <a:ext cx="6350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rial" panose="020B0604020202020204" pitchFamily="34" charset="0"/>
              </a:rPr>
              <a:t>Complex Technological Calculations Web App</a:t>
            </a:r>
            <a:endParaRPr lang="ru-RU" sz="800">
              <a:solidFill>
                <a:srgbClr val="64748B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C15FCB-AF21-42C7-A705-A2B4F43A99CB}"/>
              </a:ext>
            </a:extLst>
          </p:cNvPr>
          <p:cNvSpPr txBox="1"/>
          <p:nvPr/>
        </p:nvSpPr>
        <p:spPr>
          <a:xfrm>
            <a:off x="11074400" y="6375400"/>
            <a:ext cx="508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ru-RU" sz="800">
                <a:solidFill>
                  <a:srgbClr val="64748B"/>
                </a:solidFill>
                <a:latin typeface="Arial" panose="020B0604020202020204" pitchFamily="34" charset="0"/>
              </a:rPr>
              <a:t>3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6F51469-E49C-5609-F0EF-3C254B93FC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30614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0" name="Объект 9">
                        <a:extLst>
                          <a:ext uri="{FF2B5EF4-FFF2-40B4-BE49-F238E27FC236}">
                            <a16:creationId xmlns:a16="http://schemas.microsoft.com/office/drawing/2014/main" id="{945BBBD9-BFDA-A47E-06ED-68F42A5D22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30614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211DE53-51B9-AA49-E910-0C6C6FDFEA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30614"/>
            <a:ext cx="1026865" cy="417085"/>
          </a:xfrm>
          <a:prstGeom prst="rect">
            <a:avLst/>
          </a:prstGeom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FE858CF-8DE5-9E26-B622-35B7D5AF0557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701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654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BF8F6D-094A-40F4-A3A4-9AE67C572433}"/>
              </a:ext>
            </a:extLst>
          </p:cNvPr>
          <p:cNvSpPr txBox="1"/>
          <p:nvPr/>
        </p:nvSpPr>
        <p:spPr>
          <a:xfrm>
            <a:off x="609600" y="685800"/>
            <a:ext cx="8890000" cy="96436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ru-RU" sz="2800" b="1">
                <a:solidFill>
                  <a:srgbClr val="13243A"/>
                </a:solidFill>
                <a:latin typeface="Arial" panose="020B0604020202020204" pitchFamily="34" charset="0"/>
              </a:rPr>
              <a:t>gRPC отделяет математические библиотеки от публичного API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287FF71-CC0A-4520-9E27-FBBA170DC15B}"/>
              </a:ext>
            </a:extLst>
          </p:cNvPr>
          <p:cNvSpPr/>
          <p:nvPr/>
        </p:nvSpPr>
        <p:spPr>
          <a:xfrm>
            <a:off x="1016000" y="2095500"/>
            <a:ext cx="2667000" cy="10414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600" b="1">
                <a:solidFill>
                  <a:srgbClr val="1F2937"/>
                </a:solidFill>
                <a:latin typeface="Arial" panose="020B0604020202020204" pitchFamily="34" charset="0"/>
              </a:rPr>
              <a:t>Web
GrpcClient</a:t>
            </a:r>
            <a:endParaRPr lang="ru-RU" sz="16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6" name="Стрелка: вправо 5">
            <a:extLst>
              <a:ext uri="{FF2B5EF4-FFF2-40B4-BE49-F238E27FC236}">
                <a16:creationId xmlns:a16="http://schemas.microsoft.com/office/drawing/2014/main" id="{2BD1B9F2-1548-4BF0-820E-540A5FDA99A3}"/>
              </a:ext>
            </a:extLst>
          </p:cNvPr>
          <p:cNvSpPr/>
          <p:nvPr/>
        </p:nvSpPr>
        <p:spPr>
          <a:xfrm>
            <a:off x="4038600" y="2413000"/>
            <a:ext cx="1117600" cy="431800"/>
          </a:xfrm>
          <a:prstGeom prst="rightArrow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1AA8F00-DBC6-4680-AEED-12C50BCDF581}"/>
              </a:ext>
            </a:extLst>
          </p:cNvPr>
          <p:cNvSpPr/>
          <p:nvPr/>
        </p:nvSpPr>
        <p:spPr>
          <a:xfrm>
            <a:off x="5486400" y="1651000"/>
            <a:ext cx="2413000" cy="76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1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400" b="1">
                <a:solidFill>
                  <a:srgbClr val="1F2937"/>
                </a:solidFill>
                <a:latin typeface="Arial" panose="020B0604020202020204" pitchFamily="34" charset="0"/>
              </a:rPr>
              <a:t>CalculationRequest</a:t>
            </a:r>
            <a:endParaRPr lang="ru-RU" sz="14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68415F0-D1F5-4C92-B8C6-E2ED33D60686}"/>
              </a:ext>
            </a:extLst>
          </p:cNvPr>
          <p:cNvSpPr/>
          <p:nvPr/>
        </p:nvSpPr>
        <p:spPr>
          <a:xfrm>
            <a:off x="5486400" y="2717800"/>
            <a:ext cx="2413000" cy="76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1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400" b="1">
                <a:solidFill>
                  <a:srgbClr val="1F2937"/>
                </a:solidFill>
                <a:latin typeface="Arial" panose="020B0604020202020204" pitchFamily="34" charset="0"/>
              </a:rPr>
              <a:t>CalculationReply</a:t>
            </a:r>
            <a:endParaRPr lang="ru-RU" sz="14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D6CBFE0D-46A1-426C-93AA-3301A21F1715}"/>
              </a:ext>
            </a:extLst>
          </p:cNvPr>
          <p:cNvSpPr/>
          <p:nvPr/>
        </p:nvSpPr>
        <p:spPr>
          <a:xfrm>
            <a:off x="8229600" y="2413000"/>
            <a:ext cx="1117600" cy="431800"/>
          </a:xfrm>
          <a:prstGeom prst="rightArrow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43E63B4D-9421-406C-B7BD-F7B042AD36C9}"/>
              </a:ext>
            </a:extLst>
          </p:cNvPr>
          <p:cNvSpPr/>
          <p:nvPr/>
        </p:nvSpPr>
        <p:spPr>
          <a:xfrm>
            <a:off x="9652000" y="1905000"/>
            <a:ext cx="1651000" cy="14986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600" b="1">
                <a:solidFill>
                  <a:srgbClr val="1F2937"/>
                </a:solidFill>
                <a:latin typeface="Arial" panose="020B0604020202020204" pitchFamily="34" charset="0"/>
              </a:rPr>
              <a:t>BaseLib
Calculate</a:t>
            </a:r>
            <a:endParaRPr lang="ru-RU" sz="16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8249AF-1EE2-4932-A2FF-CC6ED0C3499A}"/>
              </a:ext>
            </a:extLst>
          </p:cNvPr>
          <p:cNvSpPr txBox="1"/>
          <p:nvPr/>
        </p:nvSpPr>
        <p:spPr>
          <a:xfrm>
            <a:off x="1193800" y="4292600"/>
            <a:ext cx="2603500" cy="97975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ru-RU" sz="1900" b="1">
                <a:solidFill>
                  <a:srgbClr val="13243A"/>
                </a:solidFill>
                <a:latin typeface="Arial" panose="020B0604020202020204" pitchFamily="34" charset="0"/>
              </a:rPr>
              <a:t>Контракт между процессами становится явным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C5B2F2-0848-4CD3-BB25-4D6196A348CE}"/>
              </a:ext>
            </a:extLst>
          </p:cNvPr>
          <p:cNvSpPr txBox="1"/>
          <p:nvPr/>
        </p:nvSpPr>
        <p:spPr>
          <a:xfrm>
            <a:off x="4800600" y="4292600"/>
            <a:ext cx="2603500" cy="97975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ru-RU" sz="1900" b="1">
                <a:solidFill>
                  <a:srgbClr val="13243A"/>
                </a:solidFill>
                <a:latin typeface="Arial" panose="020B0604020202020204" pitchFamily="34" charset="0"/>
              </a:rPr>
              <a:t>DTO сохранены через JSON внутри gRPC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7719E4-68B5-4EFF-A5B1-04D1F114D6BA}"/>
              </a:ext>
            </a:extLst>
          </p:cNvPr>
          <p:cNvSpPr txBox="1"/>
          <p:nvPr/>
        </p:nvSpPr>
        <p:spPr>
          <a:xfrm>
            <a:off x="8407400" y="4292600"/>
            <a:ext cx="2603500" cy="97975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ru-RU" sz="1900" b="1">
                <a:solidFill>
                  <a:srgbClr val="13243A"/>
                </a:solidFill>
                <a:latin typeface="Arial" panose="020B0604020202020204" pitchFamily="34" charset="0"/>
              </a:rPr>
              <a:t>Математика изолирована от Web и БД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C1857A-12D5-43E2-BE94-3F62C078BD33}"/>
              </a:ext>
            </a:extLst>
          </p:cNvPr>
          <p:cNvSpPr txBox="1"/>
          <p:nvPr/>
        </p:nvSpPr>
        <p:spPr>
          <a:xfrm>
            <a:off x="609600" y="6375400"/>
            <a:ext cx="6350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rial" panose="020B0604020202020204" pitchFamily="34" charset="0"/>
              </a:rPr>
              <a:t>Complex Technological Calculations Web App</a:t>
            </a:r>
            <a:endParaRPr lang="ru-RU" sz="800">
              <a:solidFill>
                <a:srgbClr val="64748B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A615D4-A1B4-4A60-B718-F8A89A4BE59A}"/>
              </a:ext>
            </a:extLst>
          </p:cNvPr>
          <p:cNvSpPr txBox="1"/>
          <p:nvPr/>
        </p:nvSpPr>
        <p:spPr>
          <a:xfrm>
            <a:off x="11074400" y="6375400"/>
            <a:ext cx="508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ru-RU" sz="800">
                <a:solidFill>
                  <a:srgbClr val="64748B"/>
                </a:solidFill>
                <a:latin typeface="Arial" panose="020B0604020202020204" pitchFamily="34" charset="0"/>
              </a:rPr>
              <a:t>4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D11CBC9-A71B-AAED-9BF8-EE08371EDF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30614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0" name="Объект 9">
                        <a:extLst>
                          <a:ext uri="{FF2B5EF4-FFF2-40B4-BE49-F238E27FC236}">
                            <a16:creationId xmlns:a16="http://schemas.microsoft.com/office/drawing/2014/main" id="{945BBBD9-BFDA-A47E-06ED-68F42A5D22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30614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DD47417-1775-7107-4D9E-10E69EEFEF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30614"/>
            <a:ext cx="1026865" cy="417085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DE63F51-51AE-2102-87C9-E5FBD2391486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701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560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98DD0E-35BA-4313-817A-6747C0DD493C}"/>
              </a:ext>
            </a:extLst>
          </p:cNvPr>
          <p:cNvSpPr txBox="1"/>
          <p:nvPr/>
        </p:nvSpPr>
        <p:spPr>
          <a:xfrm>
            <a:off x="609600" y="685800"/>
            <a:ext cx="8890000" cy="96436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ru-RU" sz="2800" b="1" dirty="0" err="1">
                <a:solidFill>
                  <a:srgbClr val="13243A"/>
                </a:solidFill>
                <a:latin typeface="Arial" panose="020B0604020202020204" pitchFamily="34" charset="0"/>
              </a:rPr>
              <a:t>Kafka</a:t>
            </a:r>
            <a:r>
              <a:rPr lang="ru-RU" sz="2800" b="1" dirty="0">
                <a:solidFill>
                  <a:srgbClr val="13243A"/>
                </a:solidFill>
                <a:latin typeface="Arial" panose="020B0604020202020204" pitchFamily="34" charset="0"/>
              </a:rPr>
              <a:t> убирает запись в БД из критического пути запроса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F783402-AFCD-44EB-9086-5F78EAC433AC}"/>
              </a:ext>
            </a:extLst>
          </p:cNvPr>
          <p:cNvSpPr/>
          <p:nvPr/>
        </p:nvSpPr>
        <p:spPr>
          <a:xfrm>
            <a:off x="914400" y="2413000"/>
            <a:ext cx="1968500" cy="9906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600" b="1">
                <a:solidFill>
                  <a:srgbClr val="1F2937"/>
                </a:solidFill>
                <a:latin typeface="Arial" panose="020B0604020202020204" pitchFamily="34" charset="0"/>
              </a:rPr>
              <a:t>Web
producer</a:t>
            </a:r>
            <a:endParaRPr lang="ru-RU" sz="16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6" name="Стрелка: вправо 5">
            <a:extLst>
              <a:ext uri="{FF2B5EF4-FFF2-40B4-BE49-F238E27FC236}">
                <a16:creationId xmlns:a16="http://schemas.microsoft.com/office/drawing/2014/main" id="{2073FEEF-111A-44D0-97B5-6723578BAE67}"/>
              </a:ext>
            </a:extLst>
          </p:cNvPr>
          <p:cNvSpPr/>
          <p:nvPr/>
        </p:nvSpPr>
        <p:spPr>
          <a:xfrm>
            <a:off x="3200400" y="2692400"/>
            <a:ext cx="1143000" cy="431800"/>
          </a:xfrm>
          <a:prstGeom prst="rightArrow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2D88FAA-7B00-415C-9899-D02D61A8D49A}"/>
              </a:ext>
            </a:extLst>
          </p:cNvPr>
          <p:cNvSpPr/>
          <p:nvPr/>
        </p:nvSpPr>
        <p:spPr>
          <a:xfrm>
            <a:off x="4635500" y="2311400"/>
            <a:ext cx="2413000" cy="119380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BBF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600" b="1">
                <a:solidFill>
                  <a:srgbClr val="1F2937"/>
                </a:solidFill>
                <a:latin typeface="Arial" panose="020B0604020202020204" pitchFamily="34" charset="0"/>
              </a:rPr>
              <a:t>calculation-history
Kafka topic</a:t>
            </a:r>
            <a:endParaRPr lang="ru-RU" sz="16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C3D9BE8B-0982-4C79-9985-4D689D1A7F34}"/>
              </a:ext>
            </a:extLst>
          </p:cNvPr>
          <p:cNvSpPr/>
          <p:nvPr/>
        </p:nvSpPr>
        <p:spPr>
          <a:xfrm>
            <a:off x="7366000" y="2692400"/>
            <a:ext cx="1143000" cy="431800"/>
          </a:xfrm>
          <a:prstGeom prst="rightArrow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EF3D8DA-1439-4907-83E4-9DDD3D8E76E1}"/>
              </a:ext>
            </a:extLst>
          </p:cNvPr>
          <p:cNvSpPr/>
          <p:nvPr/>
        </p:nvSpPr>
        <p:spPr>
          <a:xfrm>
            <a:off x="8788400" y="2413000"/>
            <a:ext cx="2286000" cy="9906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600" b="1">
                <a:solidFill>
                  <a:srgbClr val="1F2937"/>
                </a:solidFill>
                <a:latin typeface="Arial" panose="020B0604020202020204" pitchFamily="34" charset="0"/>
              </a:rPr>
              <a:t>HistoryWriter
consumer</a:t>
            </a:r>
            <a:endParaRPr lang="ru-RU" sz="16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9442FDE2-7424-407A-8C1D-6C718D4E41CB}"/>
              </a:ext>
            </a:extLst>
          </p:cNvPr>
          <p:cNvCxnSpPr/>
          <p:nvPr/>
        </p:nvCxnSpPr>
        <p:spPr>
          <a:xfrm>
            <a:off x="9906000" y="3403600"/>
            <a:ext cx="0" cy="850900"/>
          </a:xfrm>
          <a:prstGeom prst="line">
            <a:avLst/>
          </a:prstGeom>
          <a:ln w="25400">
            <a:solidFill>
              <a:srgbClr val="16A34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07A764C-364C-415D-9144-8FC03F108233}"/>
              </a:ext>
            </a:extLst>
          </p:cNvPr>
          <p:cNvSpPr/>
          <p:nvPr/>
        </p:nvSpPr>
        <p:spPr>
          <a:xfrm>
            <a:off x="8788400" y="4254500"/>
            <a:ext cx="2286000" cy="812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1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600" b="1">
                <a:solidFill>
                  <a:srgbClr val="1F2937"/>
                </a:solidFill>
                <a:latin typeface="Arial" panose="020B0604020202020204" pitchFamily="34" charset="0"/>
              </a:rPr>
              <a:t>PostgreSQL</a:t>
            </a:r>
            <a:endParaRPr lang="ru-RU" sz="16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CC8CEC-8A8C-4E05-BB95-01D895010203}"/>
              </a:ext>
            </a:extLst>
          </p:cNvPr>
          <p:cNvSpPr txBox="1"/>
          <p:nvPr/>
        </p:nvSpPr>
        <p:spPr>
          <a:xfrm>
            <a:off x="1092200" y="4635500"/>
            <a:ext cx="2921000" cy="120032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ru-RU" b="1" dirty="0">
                <a:solidFill>
                  <a:srgbClr val="1F2937"/>
                </a:solidFill>
                <a:latin typeface="Arial" panose="020B0604020202020204" pitchFamily="34" charset="0"/>
              </a:rPr>
              <a:t>HTTP-ответ возвращается после расчета, а не после записи истории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2CED0B-BF80-4CD0-8041-686212A4F3A5}"/>
              </a:ext>
            </a:extLst>
          </p:cNvPr>
          <p:cNvSpPr txBox="1"/>
          <p:nvPr/>
        </p:nvSpPr>
        <p:spPr>
          <a:xfrm>
            <a:off x="4622800" y="4635500"/>
            <a:ext cx="2921000" cy="93358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ru-RU" b="1">
                <a:solidFill>
                  <a:srgbClr val="1F2937"/>
                </a:solidFill>
                <a:latin typeface="Arial" panose="020B0604020202020204" pitchFamily="34" charset="0"/>
              </a:rPr>
              <a:t>Offset подтверждается только после успешного сохранения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B84D12-7B26-419A-8317-8D13B6209A49}"/>
              </a:ext>
            </a:extLst>
          </p:cNvPr>
          <p:cNvSpPr txBox="1"/>
          <p:nvPr/>
        </p:nvSpPr>
        <p:spPr>
          <a:xfrm>
            <a:off x="8153400" y="4635500"/>
            <a:ext cx="2921000" cy="93358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ru-RU" b="1">
                <a:solidFill>
                  <a:srgbClr val="1F2937"/>
                </a:solidFill>
                <a:latin typeface="Arial" panose="020B0604020202020204" pitchFamily="34" charset="0"/>
              </a:rPr>
              <a:t>Сбой БД или writer не ломает сам расчетный сценарий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C8230A-9F26-4034-8898-1587F6FD814C}"/>
              </a:ext>
            </a:extLst>
          </p:cNvPr>
          <p:cNvSpPr txBox="1"/>
          <p:nvPr/>
        </p:nvSpPr>
        <p:spPr>
          <a:xfrm>
            <a:off x="609600" y="6375400"/>
            <a:ext cx="6350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rial" panose="020B0604020202020204" pitchFamily="34" charset="0"/>
              </a:rPr>
              <a:t>Complex Technological Calculations Web App</a:t>
            </a:r>
            <a:endParaRPr lang="ru-RU" sz="800">
              <a:solidFill>
                <a:srgbClr val="64748B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F84011-6BE3-40C0-A267-0CB75E5B4852}"/>
              </a:ext>
            </a:extLst>
          </p:cNvPr>
          <p:cNvSpPr txBox="1"/>
          <p:nvPr/>
        </p:nvSpPr>
        <p:spPr>
          <a:xfrm>
            <a:off x="11074400" y="6375400"/>
            <a:ext cx="508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ru-RU" sz="800">
                <a:solidFill>
                  <a:srgbClr val="64748B"/>
                </a:solidFill>
                <a:latin typeface="Arial" panose="020B0604020202020204" pitchFamily="34" charset="0"/>
              </a:rPr>
              <a:t>5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8C1ADAC-7151-9ABA-FBC0-AAEB945186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30614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0" name="Объект 9">
                        <a:extLst>
                          <a:ext uri="{FF2B5EF4-FFF2-40B4-BE49-F238E27FC236}">
                            <a16:creationId xmlns:a16="http://schemas.microsoft.com/office/drawing/2014/main" id="{945BBBD9-BFDA-A47E-06ED-68F42A5D22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30614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6652C48-4062-E6CF-D511-B16ABF404E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30614"/>
            <a:ext cx="1026865" cy="417085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EAF5A61-505D-D581-E08C-8D8138E0CEAD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701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445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D458D0-83F8-4343-9E4E-8D818F0912D3}"/>
              </a:ext>
            </a:extLst>
          </p:cNvPr>
          <p:cNvSpPr txBox="1"/>
          <p:nvPr/>
        </p:nvSpPr>
        <p:spPr>
          <a:xfrm>
            <a:off x="609600" y="685800"/>
            <a:ext cx="8890000" cy="96436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ru-RU" sz="2800" b="1">
                <a:solidFill>
                  <a:srgbClr val="13243A"/>
                </a:solidFill>
                <a:latin typeface="Arial" panose="020B0604020202020204" pitchFamily="34" charset="0"/>
              </a:rPr>
              <a:t>Docker Compose фиксирует всю среду приложения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BC4C0B4-2344-4E5C-9630-2C2056060AC6}"/>
              </a:ext>
            </a:extLst>
          </p:cNvPr>
          <p:cNvSpPr/>
          <p:nvPr/>
        </p:nvSpPr>
        <p:spPr>
          <a:xfrm>
            <a:off x="889000" y="1930400"/>
            <a:ext cx="2159000" cy="863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1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1F2937"/>
                </a:solidFill>
                <a:latin typeface="Arial" panose="020B0604020202020204" pitchFamily="34" charset="0"/>
              </a:rPr>
              <a:t>Browser
localhost:3000</a:t>
            </a:r>
            <a:endParaRPr lang="ru-RU" sz="15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0EF45817-05F1-4282-9D01-9898DAD763E7}"/>
              </a:ext>
            </a:extLst>
          </p:cNvPr>
          <p:cNvCxnSpPr/>
          <p:nvPr/>
        </p:nvCxnSpPr>
        <p:spPr>
          <a:xfrm>
            <a:off x="3048000" y="2362200"/>
            <a:ext cx="1016000" cy="0"/>
          </a:xfrm>
          <a:prstGeom prst="line">
            <a:avLst/>
          </a:prstGeom>
          <a:ln w="25400">
            <a:solidFill>
              <a:srgbClr val="0891B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131B17B-6E67-4A86-B289-A362E6780341}"/>
              </a:ext>
            </a:extLst>
          </p:cNvPr>
          <p:cNvSpPr/>
          <p:nvPr/>
        </p:nvSpPr>
        <p:spPr>
          <a:xfrm>
            <a:off x="4064000" y="1930400"/>
            <a:ext cx="2159000" cy="8636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2DD4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1F2937"/>
                </a:solidFill>
                <a:latin typeface="Arial" panose="020B0604020202020204" pitchFamily="34" charset="0"/>
              </a:rPr>
              <a:t>nginx
/api proxy</a:t>
            </a:r>
            <a:endParaRPr lang="ru-RU" sz="15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9F83CFE-C9EA-4188-9DC8-74FEF6CFDAD0}"/>
              </a:ext>
            </a:extLst>
          </p:cNvPr>
          <p:cNvCxnSpPr/>
          <p:nvPr/>
        </p:nvCxnSpPr>
        <p:spPr>
          <a:xfrm>
            <a:off x="6223000" y="2362200"/>
            <a:ext cx="1016000" cy="0"/>
          </a:xfrm>
          <a:prstGeom prst="line">
            <a:avLst/>
          </a:prstGeom>
          <a:ln w="25400">
            <a:solidFill>
              <a:srgbClr val="0891B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9D61F24-F59E-4D97-AED5-1AEBE8FDCA4F}"/>
              </a:ext>
            </a:extLst>
          </p:cNvPr>
          <p:cNvSpPr/>
          <p:nvPr/>
        </p:nvSpPr>
        <p:spPr>
          <a:xfrm>
            <a:off x="7239000" y="1930400"/>
            <a:ext cx="2159000" cy="8636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1F2937"/>
                </a:solidFill>
                <a:latin typeface="Arial" panose="020B0604020202020204" pitchFamily="34" charset="0"/>
              </a:rPr>
              <a:t>web
container alias</a:t>
            </a:r>
            <a:endParaRPr lang="ru-RU" sz="15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68C77C6-73DD-4BD3-BD0C-B2CA93EE69A2}"/>
              </a:ext>
            </a:extLst>
          </p:cNvPr>
          <p:cNvCxnSpPr/>
          <p:nvPr/>
        </p:nvCxnSpPr>
        <p:spPr>
          <a:xfrm>
            <a:off x="8318500" y="2794000"/>
            <a:ext cx="0" cy="101600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4959213-3FBB-4129-B1A3-8A7D9112A6C0}"/>
              </a:ext>
            </a:extLst>
          </p:cNvPr>
          <p:cNvSpPr/>
          <p:nvPr/>
        </p:nvSpPr>
        <p:spPr>
          <a:xfrm>
            <a:off x="6604000" y="3810000"/>
            <a:ext cx="3429000" cy="88900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BBF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1F2937"/>
                </a:solidFill>
                <a:latin typeface="Arial" panose="020B0604020202020204" pitchFamily="34" charset="0"/>
              </a:rPr>
              <a:t>grpc-service aliases
kafka, postgres</a:t>
            </a:r>
            <a:endParaRPr lang="ru-RU" sz="15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F571AD-3217-444F-A4D6-4494A34C6C87}"/>
              </a:ext>
            </a:extLst>
          </p:cNvPr>
          <p:cNvSpPr txBox="1"/>
          <p:nvPr/>
        </p:nvSpPr>
        <p:spPr>
          <a:xfrm>
            <a:off x="779571" y="4871630"/>
            <a:ext cx="2984500" cy="120032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ru-RU" b="1" dirty="0">
                <a:solidFill>
                  <a:srgbClr val="13243A"/>
                </a:solidFill>
                <a:latin typeface="Arial" panose="020B0604020202020204" pitchFamily="34" charset="0"/>
              </a:rPr>
              <a:t>Один </a:t>
            </a:r>
            <a:r>
              <a:rPr lang="ru-RU" b="1" dirty="0" err="1">
                <a:solidFill>
                  <a:srgbClr val="13243A"/>
                </a:solidFill>
                <a:latin typeface="Arial" panose="020B0604020202020204" pitchFamily="34" charset="0"/>
              </a:rPr>
              <a:t>origin</a:t>
            </a:r>
            <a:r>
              <a:rPr lang="ru-RU" b="1" dirty="0">
                <a:solidFill>
                  <a:srgbClr val="13243A"/>
                </a:solidFill>
                <a:latin typeface="Arial" panose="020B0604020202020204" pitchFamily="34" charset="0"/>
              </a:rPr>
              <a:t> для браузера, меньше проблем с CORS и </a:t>
            </a:r>
            <a:r>
              <a:rPr lang="ru-RU" b="1" dirty="0" err="1">
                <a:solidFill>
                  <a:srgbClr val="13243A"/>
                </a:solidFill>
                <a:latin typeface="Arial" panose="020B0604020202020204" pitchFamily="34" charset="0"/>
              </a:rPr>
              <a:t>редиректами</a:t>
            </a:r>
            <a:endParaRPr lang="ru-RU" b="1" dirty="0">
              <a:solidFill>
                <a:srgbClr val="13243A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38ADE4-72FA-4BF4-9C1D-50840BF48873}"/>
              </a:ext>
            </a:extLst>
          </p:cNvPr>
          <p:cNvSpPr txBox="1"/>
          <p:nvPr/>
        </p:nvSpPr>
        <p:spPr>
          <a:xfrm>
            <a:off x="4144375" y="4953833"/>
            <a:ext cx="2984500" cy="93358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ru-RU" b="1" dirty="0">
                <a:solidFill>
                  <a:srgbClr val="13243A"/>
                </a:solidFill>
                <a:latin typeface="Arial" panose="020B0604020202020204" pitchFamily="34" charset="0"/>
              </a:rPr>
              <a:t>Имена сервисов внутри </a:t>
            </a:r>
            <a:r>
              <a:rPr lang="ru-RU" b="1" dirty="0" err="1">
                <a:solidFill>
                  <a:srgbClr val="13243A"/>
                </a:solidFill>
                <a:latin typeface="Arial" panose="020B0604020202020204" pitchFamily="34" charset="0"/>
              </a:rPr>
              <a:t>docker</a:t>
            </a:r>
            <a:r>
              <a:rPr lang="ru-RU" b="1" dirty="0">
                <a:solidFill>
                  <a:srgbClr val="13243A"/>
                </a:solidFill>
                <a:latin typeface="Arial" panose="020B0604020202020204" pitchFamily="34" charset="0"/>
              </a:rPr>
              <a:t>-сети вместо </a:t>
            </a:r>
            <a:r>
              <a:rPr lang="ru-RU" b="1" dirty="0" err="1">
                <a:solidFill>
                  <a:srgbClr val="13243A"/>
                </a:solidFill>
                <a:latin typeface="Arial" panose="020B0604020202020204" pitchFamily="34" charset="0"/>
              </a:rPr>
              <a:t>localhost</a:t>
            </a:r>
            <a:endParaRPr lang="ru-RU" b="1" dirty="0">
              <a:solidFill>
                <a:srgbClr val="13243A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EAA1E6-9DEA-4E9B-BB43-80CF0F477FA6}"/>
              </a:ext>
            </a:extLst>
          </p:cNvPr>
          <p:cNvSpPr txBox="1"/>
          <p:nvPr/>
        </p:nvSpPr>
        <p:spPr>
          <a:xfrm>
            <a:off x="7759178" y="4953833"/>
            <a:ext cx="2984500" cy="65659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ru-RU" b="1" dirty="0">
                <a:solidFill>
                  <a:srgbClr val="13243A"/>
                </a:solidFill>
                <a:latin typeface="Arial" panose="020B0604020202020204" pitchFamily="34" charset="0"/>
              </a:rPr>
              <a:t>Стенд поднимается одной командой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D3DC9A-3923-4D61-90BA-D7B5BB34AB18}"/>
              </a:ext>
            </a:extLst>
          </p:cNvPr>
          <p:cNvSpPr txBox="1"/>
          <p:nvPr/>
        </p:nvSpPr>
        <p:spPr>
          <a:xfrm>
            <a:off x="609600" y="6375400"/>
            <a:ext cx="6350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rial" panose="020B0604020202020204" pitchFamily="34" charset="0"/>
              </a:rPr>
              <a:t>Complex Technological Calculations Web App</a:t>
            </a:r>
            <a:endParaRPr lang="ru-RU" sz="800">
              <a:solidFill>
                <a:srgbClr val="64748B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124846-8FE5-4CD3-9BA3-94028E84B20F}"/>
              </a:ext>
            </a:extLst>
          </p:cNvPr>
          <p:cNvSpPr txBox="1"/>
          <p:nvPr/>
        </p:nvSpPr>
        <p:spPr>
          <a:xfrm>
            <a:off x="11074400" y="6375400"/>
            <a:ext cx="508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ru-RU" sz="800">
                <a:solidFill>
                  <a:srgbClr val="64748B"/>
                </a:solidFill>
                <a:latin typeface="Arial" panose="020B0604020202020204" pitchFamily="34" charset="0"/>
              </a:rPr>
              <a:t>6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13FB2B8-03BA-C77A-0B9D-A321E0B04C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30614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0" name="Объект 9">
                        <a:extLst>
                          <a:ext uri="{FF2B5EF4-FFF2-40B4-BE49-F238E27FC236}">
                            <a16:creationId xmlns:a16="http://schemas.microsoft.com/office/drawing/2014/main" id="{945BBBD9-BFDA-A47E-06ED-68F42A5D22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30614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F232A96-1800-34E5-5900-3E2DF04DFC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30614"/>
            <a:ext cx="1026865" cy="417085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69D26A5-53B5-429B-71FC-84E1D6CBD45A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701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178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8995AB-B382-4689-9B96-AD4BC83D7675}"/>
              </a:ext>
            </a:extLst>
          </p:cNvPr>
          <p:cNvSpPr txBox="1"/>
          <p:nvPr/>
        </p:nvSpPr>
        <p:spPr>
          <a:xfrm>
            <a:off x="609600" y="778221"/>
            <a:ext cx="8890000" cy="96436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ru-RU" sz="2800" b="1">
                <a:solidFill>
                  <a:srgbClr val="13243A"/>
                </a:solidFill>
                <a:latin typeface="Arial" panose="020B0604020202020204" pitchFamily="34" charset="0"/>
              </a:rPr>
              <a:t>Работоспособность подтверждается на нескольких уровнях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ABECA13-B3D4-4287-AAFF-1EB2110BD33B}"/>
              </a:ext>
            </a:extLst>
          </p:cNvPr>
          <p:cNvSpPr/>
          <p:nvPr/>
        </p:nvSpPr>
        <p:spPr>
          <a:xfrm>
            <a:off x="787400" y="2095500"/>
            <a:ext cx="1968500" cy="1524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1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400" b="1">
                <a:solidFill>
                  <a:srgbClr val="1F2937"/>
                </a:solidFill>
                <a:latin typeface="Arial" panose="020B0604020202020204" pitchFamily="34" charset="0"/>
              </a:rPr>
              <a:t>Сборка
dotnet build
docker compose build</a:t>
            </a:r>
            <a:endParaRPr lang="ru-RU" sz="14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08459A0-5C01-4647-B10B-E8C60592C608}"/>
              </a:ext>
            </a:extLst>
          </p:cNvPr>
          <p:cNvSpPr/>
          <p:nvPr/>
        </p:nvSpPr>
        <p:spPr>
          <a:xfrm>
            <a:off x="2971800" y="2095500"/>
            <a:ext cx="1968500" cy="1524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1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400" b="1">
                <a:solidFill>
                  <a:srgbClr val="1F2937"/>
                </a:solidFill>
                <a:latin typeface="Arial" panose="020B0604020202020204" pitchFamily="34" charset="0"/>
              </a:rPr>
              <a:t>Запуск
docker compose up -d
ps / logs</a:t>
            </a:r>
            <a:endParaRPr lang="ru-RU" sz="14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0248A46-756B-4E88-AA23-08E48A17C6EE}"/>
              </a:ext>
            </a:extLst>
          </p:cNvPr>
          <p:cNvSpPr/>
          <p:nvPr/>
        </p:nvSpPr>
        <p:spPr>
          <a:xfrm>
            <a:off x="5156200" y="2095500"/>
            <a:ext cx="1968500" cy="1524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1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400" b="1">
                <a:solidFill>
                  <a:srgbClr val="1F2937"/>
                </a:solidFill>
                <a:latin typeface="Arial" panose="020B0604020202020204" pitchFamily="34" charset="0"/>
              </a:rPr>
              <a:t>API
/api/*/GetPreset
200 + JSON</a:t>
            </a:r>
            <a:endParaRPr lang="ru-RU" sz="14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3B98A09-2092-49C0-9F7F-34C829B114D5}"/>
              </a:ext>
            </a:extLst>
          </p:cNvPr>
          <p:cNvSpPr/>
          <p:nvPr/>
        </p:nvSpPr>
        <p:spPr>
          <a:xfrm>
            <a:off x="7340600" y="2095500"/>
            <a:ext cx="1968500" cy="1524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1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400" b="1">
                <a:solidFill>
                  <a:srgbClr val="1F2937"/>
                </a:solidFill>
                <a:latin typeface="Arial" panose="020B0604020202020204" pitchFamily="34" charset="0"/>
              </a:rPr>
              <a:t>История
</a:t>
            </a:r>
            <a:r>
              <a:rPr lang="en-US" sz="1400" b="1">
                <a:solidFill>
                  <a:srgbClr val="1F2937"/>
                </a:solidFill>
                <a:latin typeface="Arial" panose="020B0604020202020204" pitchFamily="34" charset="0"/>
              </a:rPr>
              <a:t>Kafka → writer → DB</a:t>
            </a:r>
            <a:endParaRPr lang="ru-RU" sz="14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3CBACA5-A84A-4A1B-A120-7351A56E7981}"/>
              </a:ext>
            </a:extLst>
          </p:cNvPr>
          <p:cNvSpPr/>
          <p:nvPr/>
        </p:nvSpPr>
        <p:spPr>
          <a:xfrm>
            <a:off x="9525000" y="2095500"/>
            <a:ext cx="1968500" cy="1524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1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400" b="1">
                <a:solidFill>
                  <a:srgbClr val="1F2937"/>
                </a:solidFill>
                <a:latin typeface="Arial" panose="020B0604020202020204" pitchFamily="34" charset="0"/>
              </a:rPr>
              <a:t>Идемпотентность
повторный старт
без дублей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19F62F-6877-432D-AA0B-BF7FD8E5D00A}"/>
              </a:ext>
            </a:extLst>
          </p:cNvPr>
          <p:cNvSpPr txBox="1"/>
          <p:nvPr/>
        </p:nvSpPr>
        <p:spPr>
          <a:xfrm>
            <a:off x="609600" y="6375400"/>
            <a:ext cx="6350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rial" panose="020B0604020202020204" pitchFamily="34" charset="0"/>
              </a:rPr>
              <a:t>Complex Technological Calculations Web App</a:t>
            </a:r>
            <a:endParaRPr lang="ru-RU" sz="800">
              <a:solidFill>
                <a:srgbClr val="64748B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DB5BE6-FD4D-4A1B-8DFD-B489424C1708}"/>
              </a:ext>
            </a:extLst>
          </p:cNvPr>
          <p:cNvSpPr txBox="1"/>
          <p:nvPr/>
        </p:nvSpPr>
        <p:spPr>
          <a:xfrm>
            <a:off x="11074400" y="6375400"/>
            <a:ext cx="508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ru-RU" sz="800">
                <a:solidFill>
                  <a:srgbClr val="64748B"/>
                </a:solidFill>
                <a:latin typeface="Arial" panose="020B0604020202020204" pitchFamily="34" charset="0"/>
              </a:rPr>
              <a:t>7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3A4EF26-6C93-7CF4-EA11-093E646F9C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30614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0" name="Объект 9">
                        <a:extLst>
                          <a:ext uri="{FF2B5EF4-FFF2-40B4-BE49-F238E27FC236}">
                            <a16:creationId xmlns:a16="http://schemas.microsoft.com/office/drawing/2014/main" id="{945BBBD9-BFDA-A47E-06ED-68F42A5D22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30614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91D061B-3EE2-384D-D97A-2D3047A2BD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30614"/>
            <a:ext cx="1026865" cy="41708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8DE42DD-B1C6-56A4-ECE0-845391AC29CD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701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4C4E68D-0E14-96F7-4297-6A961F55C8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9305" y="3725812"/>
            <a:ext cx="7082289" cy="266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890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EB5C7A-3BF8-4D88-8E73-036B46AFE58A}"/>
              </a:ext>
            </a:extLst>
          </p:cNvPr>
          <p:cNvSpPr txBox="1"/>
          <p:nvPr/>
        </p:nvSpPr>
        <p:spPr>
          <a:xfrm>
            <a:off x="609600" y="685800"/>
            <a:ext cx="8890000" cy="96436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ru-RU" sz="2800" b="1">
                <a:solidFill>
                  <a:srgbClr val="13243A"/>
                </a:solidFill>
                <a:latin typeface="Arial" panose="020B0604020202020204" pitchFamily="34" charset="0"/>
              </a:rPr>
              <a:t>Функциональность сохранена, архитектура стала гибче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195C87-5AE7-45F7-8E1E-92400E3EAB72}"/>
              </a:ext>
            </a:extLst>
          </p:cNvPr>
          <p:cNvSpPr txBox="1"/>
          <p:nvPr/>
        </p:nvSpPr>
        <p:spPr>
          <a:xfrm>
            <a:off x="1016000" y="1803400"/>
            <a:ext cx="10160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ru-RU" sz="2800" b="1">
                <a:solidFill>
                  <a:srgbClr val="13243A"/>
                </a:solidFill>
                <a:latin typeface="Arial" panose="020B0604020202020204" pitchFamily="34" charset="0"/>
              </a:rPr>
              <a:t>Пользовательский сценарий остался прежним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96C3CC3-CCA1-4738-AA50-F4DD72E93F7F}"/>
              </a:ext>
            </a:extLst>
          </p:cNvPr>
          <p:cNvSpPr/>
          <p:nvPr/>
        </p:nvSpPr>
        <p:spPr>
          <a:xfrm>
            <a:off x="1193800" y="3175000"/>
            <a:ext cx="2794000" cy="11430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b="1">
                <a:solidFill>
                  <a:srgbClr val="1F2937"/>
                </a:solidFill>
                <a:latin typeface="Arial" panose="020B0604020202020204" pitchFamily="34" charset="0"/>
              </a:rPr>
              <a:t>Разделение
ответственности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CDC4255-6DDD-4AFA-8590-75133B69CC15}"/>
              </a:ext>
            </a:extLst>
          </p:cNvPr>
          <p:cNvSpPr/>
          <p:nvPr/>
        </p:nvSpPr>
        <p:spPr>
          <a:xfrm>
            <a:off x="4699000" y="3175000"/>
            <a:ext cx="2794000" cy="11430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b="1">
                <a:solidFill>
                  <a:srgbClr val="1F2937"/>
                </a:solidFill>
                <a:latin typeface="Arial" panose="020B0604020202020204" pitchFamily="34" charset="0"/>
              </a:rPr>
              <a:t>Изолированные
расчеты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7B9A7E6-30E4-4797-8CE3-01B593EF60ED}"/>
              </a:ext>
            </a:extLst>
          </p:cNvPr>
          <p:cNvSpPr/>
          <p:nvPr/>
        </p:nvSpPr>
        <p:spPr>
          <a:xfrm>
            <a:off x="8204200" y="3175000"/>
            <a:ext cx="2794000" cy="114300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BBF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b="1">
                <a:solidFill>
                  <a:srgbClr val="1F2937"/>
                </a:solidFill>
                <a:latin typeface="Arial" panose="020B0604020202020204" pitchFamily="34" charset="0"/>
              </a:rPr>
              <a:t>Асинхронная
история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2A92F4-A7B3-4D62-A643-C066F1777233}"/>
              </a:ext>
            </a:extLst>
          </p:cNvPr>
          <p:cNvSpPr txBox="1"/>
          <p:nvPr/>
        </p:nvSpPr>
        <p:spPr>
          <a:xfrm>
            <a:off x="1422400" y="5080000"/>
            <a:ext cx="9334500" cy="77970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ru-RU" sz="2200" b="1">
                <a:solidFill>
                  <a:srgbClr val="1F2937"/>
                </a:solidFill>
                <a:latin typeface="Arial" panose="020B0604020202020204" pitchFamily="34" charset="0"/>
              </a:rPr>
              <a:t>Микросервисная версия проще расширяется, диагностируется и демонстрируется как единый воспроизводимый стенд.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04BAAD-A27F-4DEB-B94E-731AFBCADAF9}"/>
              </a:ext>
            </a:extLst>
          </p:cNvPr>
          <p:cNvSpPr txBox="1"/>
          <p:nvPr/>
        </p:nvSpPr>
        <p:spPr>
          <a:xfrm>
            <a:off x="609600" y="6375400"/>
            <a:ext cx="6350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</a:rPr>
              <a:t>Complex Technological Calculations Web App</a:t>
            </a:r>
            <a:endParaRPr lang="ru-RU" sz="800" dirty="0">
              <a:solidFill>
                <a:srgbClr val="64748B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D56726-2D18-4A3A-AE23-82B36DCAE177}"/>
              </a:ext>
            </a:extLst>
          </p:cNvPr>
          <p:cNvSpPr txBox="1"/>
          <p:nvPr/>
        </p:nvSpPr>
        <p:spPr>
          <a:xfrm>
            <a:off x="11074400" y="6375400"/>
            <a:ext cx="508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ru-RU" sz="800" dirty="0">
                <a:solidFill>
                  <a:srgbClr val="64748B"/>
                </a:solidFill>
                <a:latin typeface="Arial" panose="020B0604020202020204" pitchFamily="34" charset="0"/>
              </a:rPr>
              <a:t>8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7848208-7155-B0C0-3A24-9481DEB94D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30614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0" name="Объект 9">
                        <a:extLst>
                          <a:ext uri="{FF2B5EF4-FFF2-40B4-BE49-F238E27FC236}">
                            <a16:creationId xmlns:a16="http://schemas.microsoft.com/office/drawing/2014/main" id="{945BBBD9-BFDA-A47E-06ED-68F42A5D22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30614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620399E-3AFB-A9CD-ECD4-DD111D0AB1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30614"/>
            <a:ext cx="1026865" cy="417085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9114054-29B0-7684-E0F7-755C8441981F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701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314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E019A-2CAE-326B-173C-CEE97DA02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945BBBD9-BFDA-A47E-06ED-68F42A5D22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30614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0" name="Объект 9">
                        <a:extLst>
                          <a:ext uri="{FF2B5EF4-FFF2-40B4-BE49-F238E27FC236}">
                            <a16:creationId xmlns:a16="http://schemas.microsoft.com/office/drawing/2014/main" id="{945BBBD9-BFDA-A47E-06ED-68F42A5D22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088" y="230614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3F640E-28C5-6A42-4840-F7937BE234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30614"/>
            <a:ext cx="1026865" cy="41708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31C74A5-3420-6F26-21CC-D541081B1A3C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701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ECF4C6E-5D3B-8F59-FDE5-5848A1B27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7D2DF-174A-F13F-F714-CBABC0F07F4A}"/>
              </a:ext>
            </a:extLst>
          </p:cNvPr>
          <p:cNvSpPr txBox="1"/>
          <p:nvPr/>
        </p:nvSpPr>
        <p:spPr>
          <a:xfrm>
            <a:off x="0" y="25596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129800-B378-8BA0-87B7-51A42E36A47E}"/>
              </a:ext>
            </a:extLst>
          </p:cNvPr>
          <p:cNvSpPr txBox="1"/>
          <p:nvPr/>
        </p:nvSpPr>
        <p:spPr>
          <a:xfrm>
            <a:off x="609600" y="6375400"/>
            <a:ext cx="6350000" cy="22570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</a:rPr>
              <a:t>Complex Technological Calculations Web App</a:t>
            </a:r>
            <a:endParaRPr lang="ru-RU" sz="800" dirty="0">
              <a:solidFill>
                <a:srgbClr val="64748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0477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419</Words>
  <Application>Microsoft Office PowerPoint</Application>
  <PresentationFormat>Широкоэкранный</PresentationFormat>
  <Paragraphs>97</Paragraphs>
  <Slides>10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Антонов</dc:creator>
  <cp:lastModifiedBy>Коротков Юрий Артемович</cp:lastModifiedBy>
  <cp:revision>7</cp:revision>
  <dcterms:created xsi:type="dcterms:W3CDTF">2026-06-14T10:50:12Z</dcterms:created>
  <dcterms:modified xsi:type="dcterms:W3CDTF">2026-06-14T13:04:53Z</dcterms:modified>
</cp:coreProperties>
</file>